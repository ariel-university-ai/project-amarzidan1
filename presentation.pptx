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מערכת ניתוח וחיזוי צמתים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BDEFB"/>
                </a:solidFill>
              </a:rPr>
              <a:t>תמיכת החלטות למשרד התחבורה — ישראל 2021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246120"/>
            <a:ext cx="667512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3429000"/>
            <a:ext cx="237744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9300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A623"/>
                </a:solidFill>
              </a:rPr>
              <a:t>11,554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תאונות אמיתיות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3429000"/>
            <a:ext cx="237744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49300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A623"/>
                </a:solidFill>
              </a:rPr>
              <a:t>2,992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160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צמתים מנותחים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429000"/>
            <a:ext cx="237744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9300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A623"/>
                </a:solidFill>
              </a:rPr>
              <a:t>79.1%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160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Accuracy 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3429000"/>
            <a:ext cx="237744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349300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A623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160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חלופות הנדסיות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BDEFB"/>
                </a:solidFill>
              </a:rPr>
              <a:t>גאודזיה מתמטית 444210  ·  אוניברסיטת אריאל  ·  ענף מדידות  ·  Demo Day 11/06/2026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הבעיה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900" b="1">
                <a:solidFill>
                  <a:srgbClr val="1A237E"/>
                </a:solidFill>
              </a:rPr>
              <a:t>ישראל 2021: 11,554 תאונות בצמתים — 331 קטלניות, עלות שנתית ₪957M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3736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2D3436"/>
                </a:solidFill>
              </a:rPr>
              <a:t>השאלה: כיצד מחליטים אילו צמתים לשדרג? על סמך מה? מה הפתרון המתאים?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23160"/>
            <a:ext cx="3566160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☠️ 331 קטלניות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27248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תאונות קטלניות בצמתים בלבד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423160"/>
            <a:ext cx="356616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48716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💰 ₪957M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127248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עלות שנתית לחברה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423160"/>
            <a:ext cx="356616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487168"/>
            <a:ext cx="3383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❓ אין מענה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127248"/>
            <a:ext cx="3383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אין מערכת להמלצות הנדסיות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11430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31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A237E"/>
                </a:solidFill>
              </a:rPr>
              <a:t>הפתרון שלנו: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93192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2D3436"/>
                </a:solidFill>
              </a:rPr>
              <a:t>מערכת שמנתחת כל צומת לפי נתוני CBS אמיתיים, מחשבת ציון סיכון, ומציגה 9 חלופות שדרוג עם חיזוי השפעה — הכל מבוסס תקנים הנדסיים בינלאומיים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17720"/>
            <a:ext cx="557784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7091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✓ לחיצה על צומת במפה → ניתוח מלא מיידי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57800"/>
            <a:ext cx="557784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49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✓ זיהוי אוטומטי של תשתית קיימת (כיכר/רמזור)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17720"/>
            <a:ext cx="557784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7091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✓ ניתוח: האם הצומת טובה? האם נדרש שדרוג?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257800"/>
            <a:ext cx="5577840" cy="548640"/>
          </a:xfrm>
          <a:prstGeom prst="rect">
            <a:avLst/>
          </a:prstGeom>
          <a:solidFill>
            <a:srgbClr val="EEEEE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349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✓ 9 חלופות מדורגות + השוואה + חיזוי לפני/אחרי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על מה אנחנו מתבססים? — הנתונים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237E"/>
                </a:solidFill>
              </a:rPr>
              <a:t>הנתון המרכזי: נתוני תאונות CBS PUF 2021 — 11,554 תאונות אמיתיות ב-45 עמודות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557784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עמודות מרכזיות מ-CBS: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04288"/>
            <a:ext cx="557784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500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HUMRAT_TEUNA — חומרת התאונה (קטלנית/קשה/קלה)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07208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529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SUG_TEUNA — סוג תאונה (חזיתית/עורפית/הולך רגל...)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10128"/>
            <a:ext cx="557784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5584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ZOMET_IRONI — קוד צומת ייחודי לזיהוי מדויק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13048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587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X,Y — קואורדינטות ITM → המרה ל-WGS84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15968"/>
            <a:ext cx="557784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6168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SHAA — שעת התאונה → זיהוי שעות עומס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18888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8646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YOM_LAYLA — יום/לילה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21808"/>
            <a:ext cx="557784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675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MEZEG_AVIR — מזג אוויר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783080"/>
            <a:ext cx="557784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8288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</a:rPr>
              <a:t>מה אנחנו מחשבים מ-CBS: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304288"/>
            <a:ext cx="557784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3500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rear_pct = % תאונות עורפיות → מדד פקק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807208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8529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peak_pct = % תאונות בשעות עומס 07-09, 16-19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310128"/>
            <a:ext cx="557784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35584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מדד עומס = rear_pct×0.6 + peak_pct×0.4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813048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8587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fatal_pct, serious_pct → חומרת הצומת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315968"/>
            <a:ext cx="557784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36168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AADT מוערך (NCHRP 17-45): תאונות÷0.35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818888"/>
            <a:ext cx="55778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86460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LOS מוערך לפי HCM Table 19-8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321808"/>
            <a:ext cx="5577840" cy="47548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36752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• זמן השהייה לפי HCM Exhibit 19-1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852160"/>
            <a:ext cx="11430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96188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7E"/>
                </a:solidFill>
              </a:rPr>
              <a:t>מקורות עלויות: נתיבי ישראל · מכרז משטרה 2025 · עיריית ירושלים 2023 · משרד התחבורה (₪3.5M לתאונה קטלנית)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איך יודעים אם צומת טובה או בעייתית?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BDEFB"/>
                </a:solidFill>
              </a:rPr>
              <a:t>לפי תקני HCM 6th Edition + AASHTO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237E"/>
                </a:solidFill>
              </a:rPr>
              <a:t>המערכת בודקת 5 קריטריונים הנדסיים לכל צומת: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11521440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783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קריטריון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783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מצב טוב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78308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מצב בעייתי 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783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הסבר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783080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מקור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12848"/>
            <a:ext cx="11521440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22860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D3436"/>
                </a:solidFill>
              </a:rPr>
              <a:t>LOS A–C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5E20"/>
                </a:solidFill>
              </a:rPr>
              <a:t>LOS D–F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286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4C3C"/>
                </a:solidFill>
              </a:rPr>
              <a:t>רמת שירות
(Level of Service)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2860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D3436"/>
                </a:solidFill>
              </a:rPr>
              <a:t>רמת שירות טובה מ-C = תנועה זורמת · D ומעלה = עומסים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28600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47A1"/>
                </a:solidFill>
              </a:rPr>
              <a:t>HCM 6th 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98648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2971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D3436"/>
                </a:solidFill>
              </a:rPr>
              <a:t>&lt; 35 שנ'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971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5E20"/>
                </a:solidFill>
              </a:rPr>
              <a:t>&gt; 40 שנ'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9718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4C3C"/>
                </a:solidFill>
              </a:rPr>
              <a:t>זמן השהייה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29718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D3436"/>
                </a:solidFill>
              </a:rPr>
              <a:t>זמן ממוצע שרכב ממתין · מחושב מ-LOS + rear_pct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97180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47A1"/>
                </a:solidFill>
              </a:rPr>
              <a:t>HCM Exhibit 19-1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584448"/>
            <a:ext cx="11521440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59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D3436"/>
                </a:solidFill>
              </a:rPr>
              <a:t>תורים &lt; 100מ'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657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5E20"/>
                </a:solidFill>
              </a:rPr>
              <a:t>תורים &gt; 200מ'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4C3C"/>
                </a:solidFill>
              </a:rPr>
              <a:t>אורך תורים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6576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D3436"/>
                </a:solidFill>
              </a:rPr>
              <a:t>תור ארוך = עומס · מחושב מהשהייה + rear_pct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65760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47A1"/>
                </a:solidFill>
              </a:rPr>
              <a:t>HCM Queuing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270248"/>
            <a:ext cx="115214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59" y="43434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D3436"/>
                </a:solidFill>
              </a:rPr>
              <a:t>0 קטלניות
≤1 קשות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43434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5E20"/>
                </a:solidFill>
              </a:rPr>
              <a:t>≥1 קטלנית
או ≥2 קשות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3434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4C3C"/>
                </a:solidFill>
              </a:rPr>
              <a:t>תאונות חמורות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3434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D3436"/>
                </a:solidFill>
              </a:rPr>
              <a:t>מספר תאונות קטלניות וקשות ב-3 שנים אחרונות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34340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47A1"/>
                </a:solidFill>
              </a:rPr>
              <a:t>CBS PUF 2021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956048"/>
            <a:ext cx="11521440" cy="658368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50292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D3436"/>
                </a:solidFill>
              </a:rPr>
              <a:t>עומס &lt; 30%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5029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B5E20"/>
                </a:solidFill>
              </a:rPr>
              <a:t>עומס &gt; 50%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50292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74C3C"/>
                </a:solidFill>
              </a:rPr>
              <a:t>מדד עומס תנועה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50292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2D3436"/>
                </a:solidFill>
              </a:rPr>
              <a:t>rear_pct×0.6 + peak_pct×0.4 · נגזר מנתוני CBS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5029200"/>
            <a:ext cx="1234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D47A1"/>
                </a:solidFill>
              </a:rPr>
              <a:t>CBS + HCM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715000"/>
            <a:ext cx="11521440" cy="50292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7881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37E"/>
                </a:solidFill>
              </a:rPr>
              <a:t>תוצאה: אם 3+ קריטריונים טובים → ✅ הצומת במצב טוב, אין צורך בשדרוג מיידי · אחרת → ⚠️ נדרשת בדיקה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למה משווים 9 חלופות? ואיך מחשבים ציון?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BDEFB"/>
                </a:solidFill>
              </a:rPr>
              <a:t>מנוע ניתוח הנדסי — HCM · AASHTO · FHWA · NCHRP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A237E"/>
                </a:solidFill>
              </a:rPr>
              <a:t>לא כל פתרון מתאים לכל צומת — תלוי ב: נפח תנועה (AADT) · חומרת תאונות · סוג בעיה (פקק/חזיתיות/לילה...)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278892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8288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🦺 בטיחות  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395728"/>
            <a:ext cx="2788920" cy="2286000"/>
          </a:xfrm>
          <a:prstGeom prst="rect">
            <a:avLst/>
          </a:prstGeom>
          <a:solidFill>
            <a:srgbClr val="EEEEE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48716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הפחתת קטלניות (50%)
הפחתת פציעות (30%)
הפחתת קונפליקטים (20%)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2519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74C3C"/>
                </a:solidFill>
              </a:rPr>
              <a:t>מקור: FHWA, NCHRP 572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783080"/>
            <a:ext cx="2788920" cy="5943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8288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🚗 תנועה  35%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2395728"/>
            <a:ext cx="2788920" cy="2286000"/>
          </a:xfrm>
          <a:prstGeom prst="rect">
            <a:avLst/>
          </a:prstGeom>
          <a:solidFill>
            <a:srgbClr val="EEEEE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55848" y="248716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שיפור LOS (30%)
הפחתת השהייה (30%)
עלייה בקיבולת (25%)
הפחתת תורים (15%)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42519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0D47A1"/>
                </a:solidFill>
              </a:rPr>
              <a:t>מקור: HCM 6th Edition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783080"/>
            <a:ext cx="278892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💰 כלכלה  15%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395728"/>
            <a:ext cx="2788920" cy="2286000"/>
          </a:xfrm>
          <a:prstGeom prst="rect">
            <a:avLst/>
          </a:prstGeom>
          <a:solidFill>
            <a:srgbClr val="EEEEE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248716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ROI = (חיסכון שנתי × 5)
÷ עלות השקעה
ציון גבוה = ROI&lt;5 שנים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42519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67E22"/>
                </a:solidFill>
              </a:rPr>
              <a:t>מקור: נתיבי ישראל + CBS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8280" y="1783080"/>
            <a:ext cx="278892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18288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🌱 סביבה  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2395728"/>
            <a:ext cx="2788920" cy="2286000"/>
          </a:xfrm>
          <a:prstGeom prst="rect">
            <a:avLst/>
          </a:prstGeom>
          <a:solidFill>
            <a:srgbClr val="EEEEEE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08008" y="2487168"/>
            <a:ext cx="2606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הפחתת פליטות
חיסכון דלק
הפחתת רעש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42519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B5E20"/>
                </a:solidFill>
              </a:rPr>
              <a:t>מקור: FHWA Environmental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60"/>
            <a:ext cx="115214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A237E"/>
                </a:solidFill>
              </a:rPr>
              <a:t>נוסחת הציון: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846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A237E"/>
                </a:solidFill>
              </a:rPr>
              <a:t>ציון_כולל = בטיחות×40% + תנועה×35% + כלכלה×15% + סביבה×10%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440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E67E22"/>
                </a:solidFill>
              </a:rPr>
              <a:t>⚡ מה ש-AADT קובע: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440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• AADT&lt;15K → כיכר עדיפה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• AADT 15K–35K → כיכר דו-נתיבית/רמזור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440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• AADT 35K–60K → רמזור חכם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• AADT&gt;60K → מחלף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שלוש רמות ניתוח — M1 + M2 + M3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749039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258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📊 תיאורי — M1
"מה קורה?"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04288"/>
            <a:ext cx="3749039" cy="3749039"/>
          </a:xfrm>
          <a:prstGeom prst="rect">
            <a:avLst/>
          </a:prstGeom>
          <a:solidFill>
            <a:srgbClr val="EEEEE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3520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2D3436"/>
                </a:solidFill>
              </a:rPr>
              <a:t>• KPIs: תאונות + עומסי תנועה
• מפה אינטראקטיבית — 2,992 צמתים
• ציון סיכון משולב = תאונות(65%)+עומס(35%)
• גרפי EDA: שעות, מחוז, סוגים
• TOP10 צמתים עמוסים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80160"/>
            <a:ext cx="3749039" cy="10058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399" y="13258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🔮 חיזוי — M2
"מה יקרה?"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2304288"/>
            <a:ext cx="3749039" cy="3749039"/>
          </a:xfrm>
          <a:prstGeom prst="rect">
            <a:avLst/>
          </a:prstGeom>
          <a:solidFill>
            <a:srgbClr val="EEEEEE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395728"/>
            <a:ext cx="3520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2D3436"/>
                </a:solidFill>
              </a:rPr>
              <a:t>• Random Forest ML (79.1% Accuracy)
• חיזוי AADT, LOS, השהייה מ-CBS
• חיזוי: לפני/אחרי שדרוג
• טבלת השוואה: 15 פרמטרים
• בדיקת תכנון צמתים חדשים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80160"/>
            <a:ext cx="3749039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3258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🎯 מנחה — M3
"מה לעשות?"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304288"/>
            <a:ext cx="3749039" cy="3749039"/>
          </a:xfrm>
          <a:prstGeom prst="rect">
            <a:avLst/>
          </a:prstGeom>
          <a:solidFill>
            <a:srgbClr val="EEEEEE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95728"/>
            <a:ext cx="3520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2D3436"/>
                </a:solidFill>
              </a:rPr>
              <a:t>• 9 חלופות הנדסיות מדורגות
• ציון 0-100 לכל חלופה
• בדיקת 'האם נדרש שדרוג?'
• אפשרות 'שמור מצב קיים'
• ROI + עלות + מקור תקן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12648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A623"/>
                </a:solidFill>
              </a:rPr>
              <a:t>← ← 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8521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237E"/>
                </a:solidFill>
              </a:rPr>
              <a:t>מתיאורי לחיזוי למנחה — זרימה רציפה, כל שלב מבוסס על הקודם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מודל Machine Learning — 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BDEFB"/>
                </a:solidFill>
              </a:rPr>
              <a:t>train_test_split 80/20 · random_state=42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669280" cy="2651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A237E"/>
                </a:solidFill>
              </a:rPr>
              <a:t>X — 11 פיצ'רים (קלט):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תאונות · fatal_pct · serious_pct · night_pct · rain_pct
pedestrian_pct · frontal_pct · rear_pct · rollover_pct
high_speed · peak_pct ✨ (חדש: מדד עומס)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577840" cy="2651760"/>
          </a:xfrm>
          <a:prstGeom prst="rect">
            <a:avLst/>
          </a:prstGeom>
          <a:solidFill>
            <a:srgbClr val="E8F5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25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B5E20"/>
                </a:solidFill>
              </a:rPr>
              <a:t>y — התערבות מומלצת (7 סוגים):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כיכר תנועה
רמזור חכם
מעבר חצייה + תאורה
תאורת LED מוגברת
מצלמת אכיפה
פסי האטה
הוספת נתיב נסיעה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069080"/>
            <a:ext cx="269748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411480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79.1%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" y="475488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069080"/>
            <a:ext cx="2697480" cy="11887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411480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74.5%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75488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59" y="4069080"/>
            <a:ext cx="269748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411480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76.2%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475488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19" y="4069080"/>
            <a:ext cx="2697480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4114800"/>
            <a:ext cx="2606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79.1%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4754880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440680"/>
            <a:ext cx="115214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55595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237E"/>
                </a:solidFill>
              </a:rPr>
              <a:t>Feature הכי חשוב: rear_pct (41.6%) — תאונות עורפיות = מדד ישיר לצפיפות תנועה ועצירות תכופות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0807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436"/>
                </a:solidFill>
              </a:rPr>
              <a:t>211 אתרים לאימון (≥3 תאונות) · Labels נוצרו מלוגיקה עסקית מבוססת ספרות בינלאומית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איך עובד החיזוי — מצב קיים מול לאחר שדרוג?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1A237E"/>
                </a:solidFill>
              </a:rPr>
              <a:t>שאלה: אחרי שבוחרים פתרון — כיצד מחשבים מה יקרה? איך יודעים שהחיזוי אמין?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3749039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288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1️⃣ ציון מצב קיים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87168"/>
            <a:ext cx="3749039" cy="2560320"/>
          </a:xfrm>
          <a:prstGeom prst="rect">
            <a:avLst/>
          </a:prstGeom>
          <a:solidFill>
            <a:srgbClr val="EEEEE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3520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מחושב מ-CBS:
bטיחות = 100 − fatal×15 − serious×5
תנועה = 100 − (LOS-1)×15 − השהייה×0.5
ציון = בטיחות×40% + תנועה×35% + 50×25%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783080"/>
            <a:ext cx="3749039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8288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2️⃣ שיעורי הפחתה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487168"/>
            <a:ext cx="3749039" cy="2560320"/>
          </a:xfrm>
          <a:prstGeom prst="rect">
            <a:avLst/>
          </a:prstGeom>
          <a:solidFill>
            <a:srgbClr val="EEEEE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578608"/>
            <a:ext cx="3520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מבוססים על מחקרים:
FHWA: כיכר → 90% קטלניות
NCHRP 572: כיכר → 47% כל תאונה
HCM: שיפור LOS לפי חלופה
חישוב: ציון_אחרי = ציון_נוכחי + שיפור_יחסי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1783080"/>
            <a:ext cx="3749039" cy="685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2880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3️⃣ השוואה 15 פרמטרים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2487168"/>
            <a:ext cx="3749039" cy="2560320"/>
          </a:xfrm>
          <a:prstGeom prst="rect">
            <a:avLst/>
          </a:prstGeom>
          <a:solidFill>
            <a:srgbClr val="EEEEEE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578608"/>
            <a:ext cx="3520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טבלה: מצב קיים vs לאחר שדרוג
LOS · ציון בטיחות · ציון תנועה
השהייה · תורים · מדד עומס
קטלניות · קשות · עלות שנתית
ROI · עלות השקעה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212080"/>
            <a:ext cx="115214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67E22"/>
                </a:solidFill>
              </a:rPr>
              <a:t>⚡ אמינות החיזוי: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349240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✓ שיעורי הפחתה מ-FHWA/NCHRP — מבוסס מאות כיכרות בארה"ב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824727"/>
            <a:ext cx="8595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✓ ציון לפני ≤ ציון אחרי תמיד (נוסחה עקבית)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300216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✓ אם AADT &gt; קיבולת חלופה → אזהרה אוטומטית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תוצאות ותובנות מרכזיות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577840" cy="1325880"/>
          </a:xfrm>
          <a:prstGeom prst="rect">
            <a:avLst/>
          </a:prstGeom>
          <a:solidFill>
            <a:srgbClr val="EEEEE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74C3C"/>
                </a:solidFill>
              </a:rPr>
              <a:t>🔴 15 צמתים בסיכון גבוה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ציון ≥60/100 — מצריכים שדרוג מיידי
רובם בצפון תל אביב וחיפה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5577840" cy="1325880"/>
          </a:xfrm>
          <a:prstGeom prst="rect">
            <a:avLst/>
          </a:prstGeom>
          <a:solidFill>
            <a:srgbClr val="EEEEEE"/>
          </a:solidFill>
          <a:ln w="1905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D47A1"/>
                </a:solidFill>
              </a:rPr>
              <a:t>🔵 כיכר — הפתרון הטוב ביותר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90% הפחתת קטלניות (FHWA)
ROI מהיר · עלות נמוכה ₪500K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88920"/>
            <a:ext cx="5577840" cy="1325880"/>
          </a:xfrm>
          <a:prstGeom prst="rect">
            <a:avLst/>
          </a:prstGeom>
          <a:solidFill>
            <a:srgbClr val="EEEEEE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67E22"/>
                </a:solidFill>
              </a:rPr>
              <a:t>🚗 3,035 תאונות עורפיות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47287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60.5% מהתאונות — פקק כרוני
Feature מס' 1 במודל: rear_pct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788920"/>
            <a:ext cx="5577840" cy="1325880"/>
          </a:xfrm>
          <a:prstGeom prst="rect">
            <a:avLst/>
          </a:prstGeom>
          <a:solidFill>
            <a:srgbClr val="EEEEEE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803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6A1B9A"/>
                </a:solidFill>
              </a:rPr>
              <a:t>⏰ שעות 07–09, 16–19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47287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שעות שיא: 66 תאונות נוספות
מדד עומס = peak_pct×40%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97679"/>
            <a:ext cx="5577840" cy="1325880"/>
          </a:xfrm>
          <a:prstGeom prst="rect">
            <a:avLst/>
          </a:prstGeom>
          <a:solidFill>
            <a:srgbClr val="EEEEEE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8911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E74C3C"/>
                </a:solidFill>
              </a:rPr>
              <a:t>💰 ₪957M עלות שנתית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56047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ניתן לחסוך עשרות מיליונים
ROI ממוצע: 3–10 שנים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297679"/>
            <a:ext cx="5577840" cy="1325880"/>
          </a:xfrm>
          <a:prstGeom prst="rect">
            <a:avLst/>
          </a:prstGeom>
          <a:solidFill>
            <a:srgbClr val="EEEEEE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19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1B5E20"/>
                </a:solidFill>
              </a:rPr>
              <a:t>✅ מערכת תומכת החלטות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956047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2D3436"/>
                </a:solidFill>
              </a:rPr>
              <a:t>אין החלטה אוטומטית
מספקת בסיס הנדסי לתעדוף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852160"/>
            <a:ext cx="115214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97103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37E"/>
                </a:solidFill>
              </a:rPr>
              <a:t>המערכת לא מחליפה סקר שטח — מספקת סדרי עדיפויות מבוססי נתונים להחלטה ראשונית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</a:rPr>
              <a:t>מגבלות — מה עוד לא יודעים ואיך לשפר?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E74C3C"/>
                </a:solidFill>
              </a:rPr>
              <a:t>השאלה: איך יודעים שהחיזוי נכון? — זו המגבלה המרכזית: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5577840" cy="12801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019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E67E22"/>
                </a:solidFill>
              </a:rPr>
              <a:t>❓ AADT לא ידוע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AADT מוערך מנוסחת NCHRP, לא ממדידה ישירה
→ שגיאה אפשרית בחיזוי קיבולת ו-LOS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D47A1"/>
                </a:solidFill>
              </a:rPr>
              <a:t>🔧 נתוני ספירת תנועה מ-data.gov.il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577840" cy="12801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019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E67E22"/>
                </a:solidFill>
              </a:rPr>
              <a:t>❓ LOS/השהייה לא נמדדו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5915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מוערכים מ-CBS — לא מסקר שטח אמיתי
→ האם הצומת באמת LOS D? לא בטוח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D47A1"/>
                </a:solidFill>
              </a:rPr>
              <a:t>🔧 HERE/TomTom API לנתונים בזמן אמת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246120"/>
            <a:ext cx="5577840" cy="12801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192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E67E22"/>
                </a:solidFill>
              </a:rPr>
              <a:t>❓ נתון שנה אחת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764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CBS 2021 בלבד — לא ניתן לזהות מגמות
האם הצומת מחמירה או משתפרת?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519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D47A1"/>
                </a:solidFill>
              </a:rPr>
              <a:t>🔧 נתונים 2019–2023 לניתוח מגמות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246120"/>
            <a:ext cx="5577840" cy="128016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192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E67E22"/>
                </a:solidFill>
              </a:rPr>
              <a:t>❓ OSM לא שלם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7647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2D3436"/>
                </a:solidFill>
              </a:rPr>
              <a:t>לא כל הצמתים ממופים ב-OpenStreetMap
→ זיהוי תשתית קיימת אינו תמיד מדויק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519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0D47A1"/>
                </a:solidFill>
              </a:rPr>
              <a:t>🔧 ולידציה ידנית + Google Maps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846320"/>
            <a:ext cx="115214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9834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37E"/>
                </a:solidFill>
              </a:rPr>
              <a:t>כיצד ולידציה? — השוואת צמתים שכבר שודרגו: מציאת נתוני לפני/אחרי ממאגרי נתיבי ישראל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577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B5E20"/>
                </a:solidFill>
              </a:rPr>
              <a:t>→ ספירות תנועה מ-data.gov.il → AADT אמיתי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08075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B5E20"/>
                </a:solidFill>
              </a:rPr>
              <a:t>→ HERE API → LOS בזמן אמת לכל צומת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5778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B5E20"/>
                </a:solidFill>
              </a:rPr>
              <a:t>→ נתוני לפני/אחרי שדרוג → ולידציה אמיתית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608075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1B5E20"/>
                </a:solidFill>
              </a:rPr>
              <a:t>→ נתונים רב-שנתיים → זיהוי מגמות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תודה!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017520"/>
            <a:ext cx="75895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BDEFB"/>
                </a:solidFill>
              </a:rPr>
              <a:t>מערכת ניתוח וחיזוי צמתים — ישראל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3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BDEFB"/>
                </a:solidFill>
              </a:rPr>
              <a:t>גאודזיה מתמטית 444210  ·  אוניברסיטת אריאל  ·  Demo Day 11/06/2026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A623"/>
                </a:solidFill>
              </a:rPr>
              <a:t>❓  שאלות?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